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annual degradation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49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Unmanaged
V2G</c:v>
                  </c:pt>
                  <c:pt idx="1">
                    <c:v>Standard
home charge</c:v>
                  </c:pt>
                  <c:pt idx="2">
                    <c:v>VoltGrid
managed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2.1</c:v>
                </c:pt>
                <c:pt idx="2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Annual Recurring Revenue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(€M)</c:v>
                </c:pt>
              </c:strCache>
            </c:strRef>
          </c:tx>
          <c:spPr>
            <a:solidFill>
              <a:srgbClr val="00C4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1.28</c:v>
                </c:pt>
                <c:pt idx="2">
                  <c:v>3.6</c:v>
                </c:pt>
                <c:pt idx="3">
                  <c:v>7.4</c:v>
                </c:pt>
                <c:pt idx="4">
                  <c:v>12.2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2396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2396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396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914400"/>
            <a:ext cx="1554480" cy="2743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628"/>
                </a:solidFill>
              </a:rPr>
              <a:t>V2G FLEET PLATFORM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13258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VoltGrid</a:t>
            </a:r>
            <a:endParaRPr lang="en-US" sz="6400" dirty="0"/>
          </a:p>
        </p:txBody>
      </p:sp>
      <p:sp>
        <p:nvSpPr>
          <p:cNvPr id="46" name="Text 44"/>
          <p:cNvSpPr/>
          <p:nvPr/>
        </p:nvSpPr>
        <p:spPr>
          <a:xfrm>
            <a:off x="45720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parked EV into a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revenue-generating grid asset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5720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sacrificing battery life.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7200" y="4023360"/>
            <a:ext cx="1920240" cy="77724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€1,284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57200" y="4443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earn/fleet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60320" y="4023360"/>
            <a:ext cx="1920240" cy="77724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2560320" y="4443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4023360"/>
            <a:ext cx="1920240" cy="77724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0.008%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663440" y="4443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€27,000 is parked.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nothing.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BDD9"/>
                </a:solidFill>
              </a:rPr>
              <a:t>The average EV sits idle 95% of the time. It carries a 60–100 kWh battery worth €20–30k,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BDD9"/>
                </a:solidFill>
              </a:rPr>
              <a:t>yet owners capture zero value from it beyond transportation.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0"/>
            <a:ext cx="2743200" cy="2286000"/>
          </a:xfrm>
          <a:prstGeom prst="rect">
            <a:avLst/>
          </a:prstGeom>
          <a:solidFill>
            <a:srgbClr val="0C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5603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743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90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 grid revenue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41071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BBDD9"/>
                </a:solidFill>
              </a:rPr>
              <a:t>EV batteries sit idle during peak price windows. Global V2G opportunity: €47B by 2030 — uncaptured.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560320"/>
            <a:ext cx="2743200" cy="2286000"/>
          </a:xfrm>
          <a:prstGeom prst="rect">
            <a:avLst/>
          </a:prstGeom>
          <a:solidFill>
            <a:srgbClr val="0C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256032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743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090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anxiety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341071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BBDD9"/>
                </a:solidFill>
              </a:rPr>
              <a:t>Fleet operators &amp; OEMs fear V2G accelerates degradation. No data. No guarantees. Adoption stalls.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2560320"/>
            <a:ext cx="2743200" cy="2286000"/>
          </a:xfrm>
          <a:prstGeom prst="rect">
            <a:avLst/>
          </a:prstGeom>
          <a:solidFill>
            <a:srgbClr val="0C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256032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7432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090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layer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17920" y="341071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BBDD9"/>
                </a:solidFill>
              </a:rPr>
              <a:t>Existing chargers are dumb. No arbitrage logic, no health policy, no OEM reporting. Just amps in/out.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F"/>
                </a:solidFill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underpenetrated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560320" cy="2560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533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2560320" cy="716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€47B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29549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Global V2G market 2030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783080"/>
            <a:ext cx="2103120" cy="210312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16164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SAM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519172"/>
            <a:ext cx="210312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€8.2B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321320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EU + UK fleet V2G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15000" y="2011680"/>
            <a:ext cx="1645920" cy="164592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30794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SOM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587752"/>
            <a:ext cx="164592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€340M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15000" y="31309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Target: 5% EU fleet Y5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92440" y="822960"/>
            <a:ext cx="100584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987552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19872" y="1417320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DD9"/>
                </a:solidFill>
              </a:rPr>
              <a:t>EVs on EU roads by 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19872" y="1975104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19872" y="2404872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DD9"/>
                </a:solidFill>
              </a:rPr>
              <a:t>avg time vehicle sits idle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19872" y="2962656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€375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19872" y="3392424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DD9"/>
                </a:solidFill>
              </a:rPr>
              <a:t>net profit/vehicle/yr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19872" y="395020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19872" y="4379976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DD9"/>
                </a:solidFill>
              </a:rPr>
              <a:t>V2G market CAGR 2030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566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49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VoltGrid — the intelligence layer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EVs and the grid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810512"/>
            <a:ext cx="2029968" cy="301752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10512"/>
            <a:ext cx="2029968" cy="457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2029968"/>
            <a:ext cx="640080" cy="64008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1488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1635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arbitrage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32004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Buy power when grid price is low. Sell when high. Automated 24/7 dispatch using real-time market signals.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96312" y="1810512"/>
            <a:ext cx="2029968" cy="301752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96312" y="1810512"/>
            <a:ext cx="2029968" cy="457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2029968"/>
            <a:ext cx="640080" cy="64008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14884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87752" y="281635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engine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06040" y="32004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SoC 20–80% policy, C-rate limits, thermal monitoring. V2G that extends — not shortens — battery life.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72584" y="1810512"/>
            <a:ext cx="2029968" cy="301752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72584" y="1810512"/>
            <a:ext cx="2029968" cy="457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67528" y="2029968"/>
            <a:ext cx="640080" cy="64008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2148840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64024" y="281635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compliance layer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82312" y="32004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Warranty-safe operation. White-label reporting for VW, Hyundai, Nissan. Real proof, not promises.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848856" y="1810512"/>
            <a:ext cx="2029968" cy="301752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48856" y="1810512"/>
            <a:ext cx="2029968" cy="457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43800" y="2029968"/>
            <a:ext cx="640080" cy="64008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2148840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0296" y="281635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revenue dashboard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58584" y="32004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Per-vehicle earnings, health scores, and grid event tracking. Real-time P&amp;L for fleet operators.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F"/>
                </a:solidFill>
              </a:rPr>
              <a:t>BATTERY HEALTH — OUR MOAT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Research-backed. Warranty-safe. The core differentiator.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6634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8046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6304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Warwick (2023)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709928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Smart V2G protocols within 20–80% SoC cause ≤0.01% additional degradation per 100 cycles vs. unmanaged home charging.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6634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13432"/>
            <a:ext cx="54864" cy="8046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359152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NREL V2G Battery Life Study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606040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Frequency regulation (±5% SoC swing) is gentler on cells than typical overnight charging. Managed V2G can extend cycle life by up to 15%.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46634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9544"/>
            <a:ext cx="54864" cy="8046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255264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Leaf UK V2G Trial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3502152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5,000 vehicles, 18 months. Battery State-of-Health after trial: 96.1% — better than control group at 94.8%.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105656"/>
            <a:ext cx="46634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105656"/>
            <a:ext cx="54864" cy="8046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151376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15118-20 Standard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4398264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Enables EV-to-charger communication of SoC, temperature, and health data, allowing real-time protocol adjustment.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Annual degradation: managed vs. unmanaged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303520" y="1737360"/>
          <a:ext cx="3566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BBD0"/>
                </a:solidFill>
              </a:rPr>
              <a:t>Source: NREL, University of Warwick, Nissan Leaf UK Trial. Numbers illustrative for presentation.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566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49F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real-time decision loops — running simultaneously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29968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417320"/>
            <a:ext cx="713232" cy="71323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173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signal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688336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Day-ahead &amp; intraday market prices ingested every 15 min. Buy threshold &amp; sell threshold calculated per vehicle.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9152" y="1828800"/>
            <a:ext cx="73152" cy="0"/>
          </a:xfrm>
          <a:prstGeom prst="line">
            <a:avLst/>
          </a:prstGeom>
          <a:noFill/>
          <a:ln w="19050">
            <a:solidFill>
              <a:srgbClr val="00C49F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487168" y="1234440"/>
            <a:ext cx="2029968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5536" y="1417320"/>
            <a:ext cx="713232" cy="71323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4173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8608" y="2267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96896" y="2688336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Battery SoC, temperature, cycle count, and C-rate read via OEM API or OCPP 2.0. Health policy applied.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73152" cy="0"/>
          </a:xfrm>
          <a:prstGeom prst="line">
            <a:avLst/>
          </a:prstGeom>
          <a:noFill/>
          <a:ln w="19050">
            <a:solidFill>
              <a:srgbClr val="00C49F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700016" y="1234440"/>
            <a:ext cx="2029968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8384" y="1417320"/>
            <a:ext cx="713232" cy="71323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4173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91456" y="2267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2688336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VoltGrid commands charger: charge (buy), discharge (sell), or hold. All within vehicle's pre-approved SoC window.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84848" y="1828800"/>
            <a:ext cx="73152" cy="0"/>
          </a:xfrm>
          <a:prstGeom prst="line">
            <a:avLst/>
          </a:prstGeom>
          <a:noFill/>
          <a:ln w="19050">
            <a:solidFill>
              <a:srgbClr val="00C49F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912864" y="1234440"/>
            <a:ext cx="2029968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1417320"/>
            <a:ext cx="713232" cy="71323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14173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04304" y="2267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report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22592" y="2688336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Every session logged: kWh traded, revenue, wear cost, net profit. OEM-ready reports generated automatically.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F"/>
                </a:solidFill>
              </a:rPr>
              <a:t>REVENUE POTENTIAL — CONCRETE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fleet operator actually earns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Per-vehicle annual economics — 60 kWh EV (e.g. VW ID.4)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530352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0584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kWh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(€/kWh)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spot arbitrage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kWh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regulation (aFRR)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kWh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response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kWh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market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€35/kW-yr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 kWh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€0.41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€447 / vehicle /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wear cost (0.4% SoH × €18k battery)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per vehicle per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417320"/>
            <a:ext cx="2834640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Fleet profit scaler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901952"/>
            <a:ext cx="2651760" cy="457200"/>
          </a:xfrm>
          <a:prstGeom prst="rect">
            <a:avLst/>
          </a:prstGeom>
          <a:solidFill>
            <a:srgbClr val="0C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9019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DD9"/>
                </a:solidFill>
              </a:rPr>
              <a:t>50 vehicles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60920" y="1901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€18,750 / yr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2468880"/>
            <a:ext cx="2651760" cy="45720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DD9"/>
                </a:solidFill>
              </a:rPr>
              <a:t>200 vehicles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609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€75,000 / yr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3035808"/>
            <a:ext cx="2651760" cy="457200"/>
          </a:xfrm>
          <a:prstGeom prst="rect">
            <a:avLst/>
          </a:prstGeom>
          <a:solidFill>
            <a:srgbClr val="0C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30358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DD9"/>
                </a:solidFill>
              </a:rPr>
              <a:t>500 vehicles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60920" y="30358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€187,500 / yr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3602736"/>
            <a:ext cx="2651760" cy="45720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602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DD9"/>
                </a:solidFill>
              </a:rPr>
              <a:t>2,000 vehicles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60920" y="36027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€750,000 / yr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4169664"/>
            <a:ext cx="2651760" cy="457200"/>
          </a:xfrm>
          <a:prstGeom prst="rect">
            <a:avLst/>
          </a:prstGeom>
          <a:solidFill>
            <a:srgbClr val="0C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16966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DD9"/>
                </a:solidFill>
              </a:rPr>
              <a:t>10,000 vehicles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60920" y="41696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€3.75M / yr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BBD0"/>
                </a:solidFill>
              </a:rPr>
              <a:t>Rates based on EPEX SPOT EU, Bundesnetzagentur aFRR data 2024. Battery cost: €300/kWh (BNEF 2024).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566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streams, zero customer friction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56616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6400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fleet license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€8–15 /vehicle/mo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DD9"/>
                </a:solidFill>
              </a:rPr>
              <a:t>Core platform access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Dispatch engine, health dashboard, scheduling, and reporting tools. Annual contract. Volume pricing at 100+ vehicles.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1417320"/>
            <a:ext cx="475488" cy="47548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417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55%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1280160"/>
            <a:ext cx="2743200" cy="356616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28016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55848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55848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grid earnings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25786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DD9"/>
                </a:solidFill>
              </a:rPr>
              <a:t>Performance upside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85292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We earn when clients earn. Aligned incentives. Avg. fleet earns €447/vehicle/yr — our cut: €36/vehicle/yr.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31536" y="1417320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417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17336" y="1280160"/>
            <a:ext cx="2743200" cy="356616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128016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54496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API licensing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54496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€40–80k / OEM / yr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54496" y="25786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DD9"/>
                </a:solidFill>
              </a:rPr>
              <a:t>White-label reports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85292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Battery telemetry data packaged for VW, Hyundai, Nissan warranty teams. First-mover with OEM partnership seals.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0184" y="141732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1417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566"/>
                </a:solidFill>
              </a:rPr>
              <a:t>Revenue mix target (Year 3): SaaS 55% · Revenue share 30% · OEM licensing 15%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F"/>
                </a:solidFill>
              </a:rPr>
              <a:t>5-YEAR FINANCIAL PROJECTIONS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€12M ARR by Year 5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33088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28016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4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4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4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4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4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licensing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€421k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€1.28M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0" y="1371600"/>
            <a:ext cx="356616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77840" y="1481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Key milestones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938528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188366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F"/>
                </a:solidFill>
              </a:rPr>
              <a:t>Q1 Y1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528816" y="18836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DD9"/>
                </a:solidFill>
              </a:rPr>
              <a:t>Pilot: 3 fleets, 350 vehicles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577840" y="2386584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2160" y="233172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F"/>
                </a:solidFill>
              </a:rPr>
              <a:t>Q3 Y1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528816" y="2331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DD9"/>
                </a:solidFill>
              </a:rPr>
              <a:t>First OEM partnership signed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577840" y="2834640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52160" y="27797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F"/>
                </a:solidFill>
              </a:rPr>
              <a:t>Q2 Y2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28816" y="27797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DD9"/>
                </a:solidFill>
              </a:rPr>
              <a:t>ISO 15118-20 full certification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577840" y="3282696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52160" y="322783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F"/>
                </a:solidFill>
              </a:rPr>
              <a:t>Q1 Y3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528816" y="3227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DD9"/>
                </a:solidFill>
              </a:rPr>
              <a:t>Break-even — 3,200 vehicles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577840" y="3730752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52160" y="367588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F"/>
                </a:solidFill>
              </a:rPr>
              <a:t>Y4+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528816" y="3675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DD9"/>
                </a:solidFill>
              </a:rPr>
              <a:t>Series B / EU grid expansion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566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expansion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261872"/>
            <a:ext cx="2743200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61872"/>
            <a:ext cx="2743200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17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DD9"/>
                </a:solidFill>
              </a:rPr>
              <a:t>Y1 — Pilot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Land: OEM-partnered fleets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487168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Target 3–5 corporate EV fleets, 50–150 vehicles each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Partner with 1 OEM (Hyundai or VW — both V2G-ready)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Focus market: Germany &amp; Netherlands (highest aFRR rates)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Bundesnetzagentur pre-qualification for frequency regulation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Proof-of-concept: publish battery health data publicly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261872"/>
            <a:ext cx="2743200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261872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417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DD9"/>
                </a:solidFill>
              </a:rPr>
              <a:t>Y2–3 — 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2011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Expand: Fleet aggregation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2487168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Add charge point operator (CPO) channel partnerships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Integrate with existing fleet management software (Samsara, Geotab)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Expand to UK, France, Belgium — all with active V2G markets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Launch fleet operator self-onboarding portal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Target 3,200 vehicles under management by end Y3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261872"/>
            <a:ext cx="2743200" cy="361188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1261872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417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DD9"/>
                </a:solidFill>
              </a:rPr>
              <a:t>Y4–5 — Dominate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1928" y="2011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Dominate: Platform &amp;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2487168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OEM white-label: VoltGrid inside 3+ major brands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Grid operator direct contracts as Virtual Power Plant (VPP)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Fleet data sold as grid forecasting asset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Expand to US (CAISO, PJM) and Australia (AEMO)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8BBDD9"/>
                </a:solidFill>
              </a:rPr>
              <a:t>Series B — €25M to fund international rollout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F"/>
                </a:solidFill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arbitrage intelligence with battery health at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417320"/>
            <a:ext cx="1261872" cy="347472"/>
          </a:xfrm>
          <a:prstGeom prst="rect">
            <a:avLst/>
          </a:prstGeom>
          <a:solidFill>
            <a:srgbClr val="00C49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4173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VoltGrid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85616" y="1417320"/>
            <a:ext cx="1261872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14173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Nuvve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1261872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4173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OVO/Kaluza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55664" y="1417320"/>
            <a:ext cx="1261872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173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CPO software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90688" y="1417320"/>
            <a:ext cx="1261872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14173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OEM native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20116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8288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V2G dispatch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50592" y="1828800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182880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85616" y="1828800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182880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1828800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82880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55664" y="1828800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182880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90688" y="1828800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0688" y="182880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2231136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23113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Battery health engine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50592" y="2231136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223113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785616" y="2231136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85616" y="223113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120640" y="2231136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23113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55664" y="2231136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223113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90688" y="2231136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0688" y="223113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2633472"/>
            <a:ext cx="20116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26334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OEM warranty reports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50592" y="2633472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0592" y="263347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85616" y="2633472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85616" y="263347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120640" y="2633472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263347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55664" y="2633472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5664" y="263347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790688" y="2633472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0688" y="263347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65760" y="3035808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30358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Fleet aggregation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50592" y="3035808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50592" y="30358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785616" y="3035808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85616" y="30358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120640" y="3035808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30358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55664" y="3035808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55664" y="30358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790688" y="3035808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90688" y="30358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65760" y="3438144"/>
            <a:ext cx="20116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" y="34381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Energy arbitrage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450592" y="3438144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50592" y="343814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785616" y="3438144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85616" y="343814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120640" y="3438144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0" y="343814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55664" y="3438144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55664" y="343814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790688" y="3438144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90688" y="343814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365760" y="3840480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" y="38404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Multi-OEM support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450592" y="3840480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50592" y="384048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785616" y="3840480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85616" y="384048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120640" y="3840480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20640" y="384048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55664" y="3840480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55664" y="384048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7790688" y="3840480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90688" y="384048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365760" y="4242816"/>
            <a:ext cx="20116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" y="42428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B2B SaaS model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450592" y="4242816"/>
            <a:ext cx="126187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50592" y="424281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3785616" y="4242816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85616" y="424281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120640" y="4242816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20640" y="424281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55664" y="4242816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55664" y="424281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790688" y="4242816"/>
            <a:ext cx="126187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90688" y="424281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–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VoltGrid is the only platform combining real-time arbitrage + battery health management + OEM warranty reporting — all in one B2B SaaS.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566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49F"/>
                </a:solidFill>
              </a:rPr>
              <a:t>OEM PARTNERSHIP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V2G safe for OEMs to endorse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What OEMs fear from V2G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74C3C"/>
                </a:solidFill>
              </a:rPr>
              <a:t>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Battery degradation voids warranty claims → liability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74C3C"/>
                </a:solidFill>
              </a:rPr>
              <a:t>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No data trail if customer sues for early cell death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895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74C3C"/>
                </a:solidFill>
              </a:rPr>
              <a:t>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Uncontrolled C-rates cause thermal events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4198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74C3C"/>
                </a:solidFill>
              </a:rPr>
              <a:t>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Regulatory risk if grid dispatch breaks local law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74C3C"/>
                </a:solidFill>
              </a:rPr>
              <a:t>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Brand damage: 'VW battery died from V2G charging'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023360" cy="356616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4023360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</a:rPr>
              <a:t>What VoltGrid gives OEMs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C49F"/>
                </a:solidFill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SoC 20–80% hard cap — configurable per OEM model spec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3591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C49F"/>
                </a:solidFill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Full session telemetry log exportable for warranty claims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8895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C49F"/>
                </a:solidFill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C-rate ceiling + thermal pause thresholds built-in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34198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C49F"/>
                </a:solidFill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Regulatory compliance layer per market (EU, UK, DE)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9502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C49F"/>
                </a:solidFill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DD9"/>
                </a:solidFill>
              </a:rPr>
              <a:t>Co-branded 'V2G-Safe' seal for marketing and warranty docs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F"/>
                </a:solidFill>
              </a:rPr>
              <a:t>TRACTION &amp; PRODUCT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seed to Series A in 18 months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29968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56816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LOIs signed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with fleet operators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1417320"/>
            <a:ext cx="2029968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4813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42032" y="1956816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OEM MOU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in negotiation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417320"/>
            <a:ext cx="2029968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4813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18304" y="1956816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Pre-seed raised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(friends &amp; angels)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94576" y="1417320"/>
            <a:ext cx="2029968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14813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94576" y="1956816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Pilot launch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target date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578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18-month product roadmap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2999232"/>
            <a:ext cx="146304" cy="0"/>
          </a:xfrm>
          <a:prstGeom prst="line">
            <a:avLst/>
          </a:prstGeom>
          <a:noFill/>
          <a:ln w="19050">
            <a:solidFill>
              <a:srgbClr val="00C4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144" y="2834640"/>
            <a:ext cx="457200" cy="45720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64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9F"/>
                </a:solidFill>
              </a:rPr>
              <a:t>Q3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6393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Pilot launch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350 vehicles live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OCPP 2.0 integration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Core dispatch engine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Health dashboard v1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999232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28416" y="28346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3364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Q4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42032" y="36393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OEM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33472" y="393192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First OEM API live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Warranty report export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aFRR certification DE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Fleet scheduler v1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48272" y="2999232"/>
            <a:ext cx="14630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04688" y="28346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3364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Q1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36393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Scale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9744" y="393192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Self-serve onboarding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1,200 vehicles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UK market entry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Revenue share live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0" y="28346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3364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Q3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94576" y="36393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Expand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86016" y="393192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VPP aggregation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3+ OEM partnerships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France + Benelux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Series A raise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566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15400" y="36576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5400" y="118872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201168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15400" y="283464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15400" y="3657600"/>
            <a:ext cx="54864" cy="54864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49F"/>
                </a:solidFill>
              </a:rPr>
              <a:t>THE ASK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10972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€1.8M Seed Round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365760" y="190195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BDD9"/>
                </a:solidFill>
              </a:rPr>
              <a:t>to prove V2G can be safe, profitable, and scalable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320040" y="2487168"/>
            <a:ext cx="2103120" cy="228600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6334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320040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Engineering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9768" y="3694176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DD9"/>
                </a:solidFill>
              </a:rPr>
              <a:t>Dispatch engine, health API, OEM integrations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32888" y="2487168"/>
            <a:ext cx="2103120" cy="228600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32888" y="26334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800" dirty="0"/>
          </a:p>
        </p:txBody>
      </p:sp>
      <p:sp>
        <p:nvSpPr>
          <p:cNvPr id="52" name="Text 50"/>
          <p:cNvSpPr/>
          <p:nvPr/>
        </p:nvSpPr>
        <p:spPr>
          <a:xfrm>
            <a:off x="2532888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 fleet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642616" y="3694176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DD9"/>
                </a:solidFill>
              </a:rPr>
              <a:t>Hardware, OCPP infra, 3 fleet onboardings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45736" y="2487168"/>
            <a:ext cx="2103120" cy="228600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45736" y="26334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800" dirty="0"/>
          </a:p>
        </p:txBody>
      </p:sp>
      <p:sp>
        <p:nvSpPr>
          <p:cNvPr id="56" name="Text 54"/>
          <p:cNvSpPr/>
          <p:nvPr/>
        </p:nvSpPr>
        <p:spPr>
          <a:xfrm>
            <a:off x="4745736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&amp; GTM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855464" y="3694176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DD9"/>
                </a:solidFill>
              </a:rPr>
              <a:t>Business development, OEM BD, EU markets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58584" y="2487168"/>
            <a:ext cx="2103120" cy="2286000"/>
          </a:xfrm>
          <a:prstGeom prst="rect">
            <a:avLst/>
          </a:prstGeom>
          <a:solidFill>
            <a:srgbClr val="0F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58584" y="26334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800" dirty="0"/>
          </a:p>
        </p:txBody>
      </p:sp>
      <p:sp>
        <p:nvSpPr>
          <p:cNvPr id="60" name="Text 58"/>
          <p:cNvSpPr/>
          <p:nvPr/>
        </p:nvSpPr>
        <p:spPr>
          <a:xfrm>
            <a:off x="6958584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Ops &amp; legal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068312" y="3694176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DD9"/>
                </a:solidFill>
              </a:rPr>
              <a:t>Regulatory, data, ISO 15118 certification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566"/>
                </a:solidFill>
              </a:rPr>
              <a:t>contact@voltgrid.io  ·  voltgrid.io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VoltGrid — V2G Fleet Platform</dc:title>
  <dc:subject>PptxGenJS Presentation</dc:subject>
  <dc:creator>VoltGrid</dc:creator>
  <cp:lastModifiedBy>VoltGrid</cp:lastModifiedBy>
  <cp:revision>1</cp:revision>
  <dcterms:created xsi:type="dcterms:W3CDTF">2026-05-29T09:35:54Z</dcterms:created>
  <dcterms:modified xsi:type="dcterms:W3CDTF">2026-05-29T09:35:54Z</dcterms:modified>
</cp:coreProperties>
</file>